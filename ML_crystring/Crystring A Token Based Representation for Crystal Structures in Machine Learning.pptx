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2" r:id="rId5"/>
    <p:sldId id="263" r:id="rId6"/>
    <p:sldId id="264" r:id="rId7"/>
    <p:sldId id="269" r:id="rId8"/>
    <p:sldId id="270" r:id="rId9"/>
    <p:sldId id="271" r:id="rId10"/>
    <p:sldId id="272" r:id="rId11"/>
    <p:sldId id="276" r:id="rId12"/>
    <p:sldId id="278" r:id="rId13"/>
    <p:sldId id="274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930" autoAdjust="0"/>
  </p:normalViewPr>
  <p:slideViewPr>
    <p:cSldViewPr snapToGrid="0">
      <p:cViewPr varScale="1">
        <p:scale>
          <a:sx n="92" d="100"/>
          <a:sy n="92" d="100"/>
        </p:scale>
        <p:origin x="12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4DBC4-0262-4FD8-BBA3-8A2920736CCF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85CFA-6059-466B-8353-A08530ED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81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introduces </a:t>
            </a:r>
            <a:r>
              <a:rPr lang="en-US" b="1" dirty="0"/>
              <a:t>Crystring</a:t>
            </a:r>
            <a:r>
              <a:rPr lang="en-US" dirty="0"/>
              <a:t>, python package to generate bidirectional token-based representations for crystal structures, </a:t>
            </a:r>
          </a:p>
          <a:p>
            <a:endParaRPr lang="en-US" b="1" dirty="0"/>
          </a:p>
          <a:p>
            <a:r>
              <a:rPr lang="en-US" b="1" dirty="0"/>
              <a:t>Here is an example of HoCrO₄</a:t>
            </a:r>
            <a:r>
              <a:rPr lang="en-US" dirty="0"/>
              <a:t> (mp-19055). Crystring efficiently encodes crystallographic data by leveraging space group symmetry and Wyckoff positions,  and then with this representation it can be converted back to crystal structure in ASE Atoms type</a:t>
            </a:r>
          </a:p>
          <a:p>
            <a:endParaRPr lang="en-US" dirty="0"/>
          </a:p>
          <a:p>
            <a:r>
              <a:rPr lang="en-US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where the first four characters denote the space group name, and each subsequent five-character set encodes Wyckoff letter, multiplicity, element type, and XYZ values. </a:t>
            </a:r>
          </a:p>
          <a:p>
            <a:endParaRPr lang="en-US" sz="2800" dirty="0"/>
          </a:p>
          <a:p>
            <a:r>
              <a:rPr lang="en-US" sz="2800" dirty="0"/>
              <a:t>Wyckoff positions within the same set have the same </a:t>
            </a:r>
            <a:r>
              <a:rPr lang="en-US" sz="2800" b="1" dirty="0"/>
              <a:t>symmetry level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significantly reducing data redundancy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5CFA-6059-466B-8353-A08530EDC0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1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</a:t>
            </a:r>
            <a:r>
              <a:rPr lang="en-US" b="1" dirty="0"/>
              <a:t>tokenization and embedding process</a:t>
            </a:r>
            <a:r>
              <a:rPr lang="en-US" dirty="0"/>
              <a:t> for Crystring representations</a:t>
            </a:r>
          </a:p>
          <a:p>
            <a:endParaRPr lang="en-US" dirty="0"/>
          </a:p>
          <a:p>
            <a:r>
              <a:rPr lang="en-US" dirty="0"/>
              <a:t>Representation like a sentence can split into multi tokens or words. I also create a dictionary, unlike real word, instead of save meaning for each other, it save a value corresponding to each tokens.</a:t>
            </a:r>
          </a:p>
          <a:p>
            <a:endParaRPr lang="en-US" dirty="0"/>
          </a:p>
          <a:p>
            <a:r>
              <a:rPr lang="en-US" dirty="0"/>
              <a:t>Then is the embedding part for each token or value, I embed to a vector store potential relations with other tokens, these values will change and get improve while the LLM train and learn</a:t>
            </a:r>
          </a:p>
          <a:p>
            <a:endParaRPr lang="en-US" dirty="0"/>
          </a:p>
          <a:p>
            <a:r>
              <a:rPr lang="en-US" dirty="0"/>
              <a:t>Thus for each structure, we have 1d vector then embedding to 2d matrix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5CFA-6059-466B-8353-A08530EDC0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77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final project I set 3 targets,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Predict lattice parameter, </a:t>
            </a:r>
            <a:br>
              <a:rPr lang="en-US" dirty="0"/>
            </a:br>
            <a:r>
              <a:rPr lang="en-US" dirty="0"/>
              <a:t>future purpose is with any unseen crystal structure representation I can predict unit cell parameters and reconstruct the crystal structure, and then use some well researched graphic NN  like </a:t>
            </a:r>
            <a:r>
              <a:rPr lang="en-US" dirty="0" err="1"/>
              <a:t>cgcnn</a:t>
            </a:r>
            <a:r>
              <a:rPr lang="en-US" dirty="0"/>
              <a:t> or align to predict properties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I also try to predict properties directly from Crystring representation (Band Gap and Energy above hull)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my materials databases targets are not evenly distribute. More conductor can semiconductor and insulator. So, I made two steps prediction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Energy above the hull is selected as the target to determine stability, primarily for future material discovery purposes.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5CFA-6059-466B-8353-A08530EDC0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88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presents a structure </a:t>
            </a:r>
            <a:r>
              <a:rPr lang="en-US" b="1" dirty="0"/>
              <a:t>Token-Based LSTM Model for </a:t>
            </a:r>
          </a:p>
          <a:p>
            <a:r>
              <a:rPr lang="en-US" dirty="0"/>
              <a:t>he model utilizes an </a:t>
            </a:r>
            <a:r>
              <a:rPr lang="en-US" b="1" dirty="0"/>
              <a:t>embedding layer</a:t>
            </a:r>
            <a:r>
              <a:rPr lang="en-US" dirty="0"/>
              <a:t> to encode structural information, followed by an </a:t>
            </a:r>
            <a:r>
              <a:rPr lang="en-US" b="1" dirty="0"/>
              <a:t>LSTM layer</a:t>
            </a:r>
            <a:r>
              <a:rPr lang="en-US" dirty="0"/>
              <a:t> to capture sequential dependencies. A fully connected (FC) network refines the predictions</a:t>
            </a:r>
          </a:p>
          <a:p>
            <a:endParaRPr lang="en-US" dirty="0"/>
          </a:p>
          <a:p>
            <a:r>
              <a:rPr lang="en-US" dirty="0"/>
              <a:t>Use </a:t>
            </a:r>
            <a:r>
              <a:rPr lang="en-US" dirty="0" err="1"/>
              <a:t>relu</a:t>
            </a:r>
            <a:r>
              <a:rPr lang="en-US" dirty="0"/>
              <a:t>() at the end specify for bad gap regression to avoid negative value, </a:t>
            </a:r>
          </a:p>
          <a:p>
            <a:r>
              <a:rPr lang="en-US" dirty="0"/>
              <a:t>Use sigmoid for binary classification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5CFA-6059-466B-8353-A08530EDC00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13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5CFA-6059-466B-8353-A08530EDC00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5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preselect all monoclinic structure in 5000 dataset</a:t>
            </a:r>
            <a:br>
              <a:rPr lang="en-US" dirty="0"/>
            </a:br>
            <a:r>
              <a:rPr lang="en-US" dirty="0"/>
              <a:t>use 80% for train. Since alpha and gamma are fixed for 90 degree </a:t>
            </a:r>
            <a:br>
              <a:rPr lang="en-US" dirty="0"/>
            </a:br>
            <a:r>
              <a:rPr lang="en-US" dirty="0"/>
              <a:t>only 4 parameters need to predict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similar method I applied to all other lattice types. All generate decent result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5CFA-6059-466B-8353-A08530EDC0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30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PCA and t-SNE projections</a:t>
            </a:r>
            <a:r>
              <a:rPr lang="en-US" dirty="0"/>
              <a:t> visualize the distribution of crystal structure datasets</a:t>
            </a:r>
          </a:p>
          <a:p>
            <a:r>
              <a:rPr lang="en-US" dirty="0"/>
              <a:t>The </a:t>
            </a:r>
            <a:r>
              <a:rPr lang="en-US" b="1" dirty="0"/>
              <a:t>left plot (PCA)</a:t>
            </a:r>
            <a:r>
              <a:rPr lang="en-US" dirty="0"/>
              <a:t> provides a linear transformation of the dataset into two principal components</a:t>
            </a:r>
          </a:p>
          <a:p>
            <a:r>
              <a:rPr lang="en-US" dirty="0"/>
              <a:t>the </a:t>
            </a:r>
            <a:r>
              <a:rPr lang="en-US" b="1" dirty="0"/>
              <a:t>right plot (t-SNE)</a:t>
            </a:r>
            <a:r>
              <a:rPr lang="en-US" dirty="0"/>
              <a:t>, a non-linear dimensionality reduction technique</a:t>
            </a:r>
          </a:p>
          <a:p>
            <a:endParaRPr lang="en-US" sz="2800" dirty="0"/>
          </a:p>
          <a:p>
            <a:r>
              <a:rPr lang="en-US" sz="2800" dirty="0"/>
              <a:t>As the dataset size increases, it allows for a more extensive exploration of structural and property space, improving model generalization. However, </a:t>
            </a:r>
            <a:r>
              <a:rPr lang="en-US" sz="2800" b="1" dirty="0"/>
              <a:t>a larger dataset may introduce additional complexity and noise, making predictions more challenging.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5CFA-6059-466B-8353-A08530EDC00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40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5EC4-8C7E-CEBB-6594-B0A712DEB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CD5E2-9964-950C-C920-1A0B9AC89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7CFA4-5392-0E50-8F58-0ABA5218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4E24-4166-4F10-8381-BF87A4AB48CE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B8D15-E384-7DD6-1A82-125D3B97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D2E61-D89A-A5C2-6A46-B293478A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8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31244-0355-58CD-AC55-B0B5A5BE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7A2DE-D90C-7E2D-1F98-55D50ADD0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96F4E-7537-AF09-A0F2-DCA825510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6115-BB21-4EA9-B27B-9A70746121A5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91642-1DD8-DE0A-88D5-3488C5425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F9639-BBEB-2DE5-B54C-6A04297F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5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1C1C7-40D4-82A7-706E-1D6F09E3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B9631-8226-8DBD-943A-46CCA2110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43B40-AE9D-1CE5-6FAD-227C28E9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5540-42EC-4467-B646-856DB0733441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E974F-8C6C-A1DE-9C43-465E017C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9253A-19A8-65B0-9D24-FB2A17C7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64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C253-6425-1D71-6D38-5B3AD3BDB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4B6B3-4A56-7B56-B7BD-844C3D737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D4B40-BC7A-E18A-281D-A72686423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54040-28F3-229A-D4CB-7E3BB053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0A3F-8DA5-4613-B0B1-C35930FFD4B5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5FAF4-F6A9-0401-1513-DDDA8AA53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1F5C3-DA12-5C44-EBBC-3A5FC6EB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3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4EC9-FA6E-0578-B1FE-8B3CE09D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4CB4C-EC23-0E1B-7341-6EB57E403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ED50D-0602-DD83-7033-263728028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A2F23A-FC32-1A41-E8A3-7C33A7DF3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831C6A-4AF9-89A3-56E1-470A8C57F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64B66-4311-3917-3DA7-644A659F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B5B6-57AD-4FD1-AE05-AD9097B54EC5}" type="datetime1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E862B3-F90E-8215-DBD3-9950FF27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D10ACB-D8FE-2A8B-1570-B7560374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14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6763-86DC-0D29-AF69-C408C9B98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70293E-97E4-4626-100B-C9D3E457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8A953-8713-4BCB-8278-D48AEE1B8C5F}" type="datetime1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41836-8A91-F92E-D993-C734121E8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A44F1-AC8D-61ED-AA40-7A96D6566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83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F8FFCA-059C-4715-EDFB-36865ACD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58C6C-9198-4633-B597-9E237824104D}" type="datetime1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BFAFAE-308E-4DFD-72CD-4480B750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68ACB-0969-F07D-59BB-5D4C5D8A0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06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279E-F7E2-57BD-2A01-E0F2A6F95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9D582-477B-A501-90DC-E47A690E9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8A2DA-126A-C183-9241-BE826A8F5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9DAFD-ED44-370D-7674-7B451D04A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908C-E866-42BB-8D55-4E3505F3C76C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61E1C-7F44-C8AA-8E72-813FCDDA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29065-EEBA-FD78-9DC9-D62E2A02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58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0B1FA-FE2C-33F2-4178-843A1716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F285A8-7FB3-0F32-CC7C-26A5B4E29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C5E2D-61FD-07CB-642C-4A36B156F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551AB-410F-FC41-C2F4-D23F00B73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A40ED-6C9B-4BDF-BC85-0059D91402CC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B3EEA-0726-CFB5-A27A-3336B83F2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CFDDF-60B3-F0B1-BA60-28696C05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5441-0BF9-DF2D-EB9A-2F19F328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8E0A7-EB64-3291-06E4-7AB27FECC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95694-E4A0-15A7-DFA2-51A053D20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F3A1-5C0C-47B5-9EF7-789A776D654C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AF67E-7779-F844-DDDB-DC487B66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E2ADB-7DB5-F49A-55E3-FFBC6D5B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94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9C875-8EEE-6598-7633-189F75E9A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EC3E9-28F2-8B1B-22C3-B9E82B917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E65A3-8894-38DF-4762-9482BCCF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AB4B-7BFB-44F0-94AB-4BECAF0953A1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F0FF8-FE28-635E-3F3D-4953E385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D294B-041A-2F41-C060-AFCC6107F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1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D89944-0CCF-DDEA-9A15-54592179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3DF72-CC79-A9B8-006D-39A41BA95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6A9F1-F996-94B6-8E91-951E81B9D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F9C2DD-BA70-49F4-AF36-086B3E1D4971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C4548-5C8D-FD59-5369-871F5CC6F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772B7-7C22-FAC2-025E-0E243B8BE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577ED-844D-4966-BFD7-2AC53E7E8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7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8B74-BD5F-6725-12B8-64F162AB0F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Crystring: A Token-Based Representation for Crystal Structures in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5CE9E-CE87-5429-ED4E-5EA209681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Qihan Fu</a:t>
            </a:r>
          </a:p>
          <a:p>
            <a:r>
              <a:rPr lang="en-US" dirty="0"/>
              <a:t>3/13/2025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D3FEB-A689-C402-BF1B-059B97FEB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71830-A681-B355-FDA4-88059E9D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84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7D1C-54B8-81A9-B172-E1D0BA68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Crystring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EB455-97EE-6678-8494-AC1C550B4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000"/>
            <a:ext cx="10515600" cy="688975"/>
          </a:xfrm>
        </p:spPr>
        <p:txBody>
          <a:bodyPr/>
          <a:lstStyle/>
          <a:p>
            <a:r>
              <a:rPr lang="en-US" dirty="0"/>
              <a:t>A Bidirectional Token-Based Representation for Crystal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4D78C-361C-6154-6F3C-E0C07AA2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7E635-2296-8868-2227-32AD8633E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E454CB6-60AF-324C-80DC-49BE1E171BA1}"/>
              </a:ext>
            </a:extLst>
          </p:cNvPr>
          <p:cNvGrpSpPr/>
          <p:nvPr/>
        </p:nvGrpSpPr>
        <p:grpSpPr>
          <a:xfrm>
            <a:off x="838200" y="1182328"/>
            <a:ext cx="5056546" cy="4493344"/>
            <a:chOff x="838200" y="1182328"/>
            <a:chExt cx="5056546" cy="4493344"/>
          </a:xfrm>
        </p:grpSpPr>
        <p:pic>
          <p:nvPicPr>
            <p:cNvPr id="16" name="Picture 15" descr="A screenshot of a computer generated image of a molecule&#10;&#10;AI-generated content may be incorrect.">
              <a:extLst>
                <a:ext uri="{FF2B5EF4-FFF2-40B4-BE49-F238E27FC236}">
                  <a16:creationId xmlns:a16="http://schemas.microsoft.com/office/drawing/2014/main" id="{74EF3079-06BF-5D60-5F07-0C92D97C8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1402" y="1182328"/>
              <a:ext cx="4493344" cy="449334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3DDF6A-55FE-F908-4EA7-144F4FCF6837}"/>
                </a:ext>
              </a:extLst>
            </p:cNvPr>
            <p:cNvSpPr txBox="1"/>
            <p:nvPr/>
          </p:nvSpPr>
          <p:spPr>
            <a:xfrm>
              <a:off x="838200" y="1963716"/>
              <a:ext cx="17526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b="1" i="0" dirty="0">
                  <a:solidFill>
                    <a:srgbClr val="363636"/>
                  </a:solidFill>
                  <a:effectLst/>
                  <a:latin typeface="BlinkMacSystemFont"/>
                </a:rPr>
                <a:t>HoCrO₄</a:t>
              </a:r>
            </a:p>
            <a:p>
              <a:pPr algn="l"/>
              <a:r>
                <a:rPr lang="en-US" b="0" i="0" dirty="0">
                  <a:solidFill>
                    <a:srgbClr val="4A4A4A"/>
                  </a:solidFill>
                  <a:effectLst/>
                  <a:latin typeface="BlinkMacSystemFont"/>
                </a:rPr>
                <a:t>mp-19055</a:t>
              </a:r>
            </a:p>
          </p:txBody>
        </p:sp>
      </p:grpSp>
      <p:sp>
        <p:nvSpPr>
          <p:cNvPr id="21" name="Rectangle 3">
            <a:extLst>
              <a:ext uri="{FF2B5EF4-FFF2-40B4-BE49-F238E27FC236}">
                <a16:creationId xmlns:a16="http://schemas.microsoft.com/office/drawing/2014/main" id="{3084848D-68E5-EE02-2868-EBCFFB0F8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436773"/>
            <a:ext cx="10656763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representation: I 41/a 1 1 Ho 4b 0.000 0.000 0.000 Cr 4a 0.000 0.000 0.000 O 16f 0.645 0.242 0.422 </a:t>
            </a:r>
            <a:endParaRPr kumimoji="0" lang="en-US" altLang="en-US" sz="4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F35CF16-A63C-7942-A17F-467BA5B72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6555" y="4652530"/>
            <a:ext cx="1533645" cy="51121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9CD77E7-A6DD-FBFA-9AF1-AA2AAFCECA50}"/>
              </a:ext>
            </a:extLst>
          </p:cNvPr>
          <p:cNvGrpSpPr/>
          <p:nvPr/>
        </p:nvGrpSpPr>
        <p:grpSpPr>
          <a:xfrm>
            <a:off x="6457948" y="2300647"/>
            <a:ext cx="4048125" cy="2601477"/>
            <a:chOff x="6457948" y="2300647"/>
            <a:chExt cx="4048125" cy="260147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2841F7A-6BDB-C079-4900-00D4BEE80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57948" y="2300647"/>
              <a:ext cx="4048125" cy="2114307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2803C3A-C8D9-4C06-C568-639B81061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57957" y="4178123"/>
              <a:ext cx="2886478" cy="7240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3552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A994-9B56-E627-85BF-91E119366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AA32-86BA-3723-DE4D-1CCAFAFE8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Tokenization and Embedding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522C1-67F3-DA3E-B48C-BB47A40BB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3" y="1562246"/>
            <a:ext cx="11029953" cy="518678"/>
          </a:xfrm>
        </p:spPr>
        <p:txBody>
          <a:bodyPr anchor="ctr"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latin typeface="Arial Unicode MS"/>
              </a:rPr>
              <a:t>Representation: I 41/a 1 1 Ho 4b 0.000 0.000 0.000 Cr 4a 0.000 0.000 0.000 O 16f 0.645 0.242 0.422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EF0E3-E6DB-5C9F-9EB9-D8B238A4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B32CCD-B592-3065-9450-BD92E1DCD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63DC734-B69E-65E8-381E-C8FA02CEC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294471"/>
              </p:ext>
            </p:extLst>
          </p:nvPr>
        </p:nvGraphicFramePr>
        <p:xfrm>
          <a:off x="463345" y="2169757"/>
          <a:ext cx="11265309" cy="3021225"/>
        </p:xfrm>
        <a:graphic>
          <a:graphicData uri="http://schemas.openxmlformats.org/drawingml/2006/table">
            <a:tbl>
              <a:tblPr/>
              <a:tblGrid>
                <a:gridCol w="592911">
                  <a:extLst>
                    <a:ext uri="{9D8B030D-6E8A-4147-A177-3AD203B41FA5}">
                      <a16:colId xmlns:a16="http://schemas.microsoft.com/office/drawing/2014/main" val="3484534761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150670045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755183075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1459122105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240549681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2264562308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3843725617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2415354977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1501376076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3213508043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723785499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3346272420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2094479628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141614237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2028680794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1676222144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3565416619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2422435849"/>
                    </a:ext>
                  </a:extLst>
                </a:gridCol>
                <a:gridCol w="592911">
                  <a:extLst>
                    <a:ext uri="{9D8B030D-6E8A-4147-A177-3AD203B41FA5}">
                      <a16:colId xmlns:a16="http://schemas.microsoft.com/office/drawing/2014/main" val="1089220849"/>
                    </a:ext>
                  </a:extLst>
                </a:gridCol>
              </a:tblGrid>
              <a:tr h="2263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Tokens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41/a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4b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END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374325"/>
                  </a:ext>
                </a:extLst>
              </a:tr>
              <a:tr h="2263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Vector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137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616109"/>
                  </a:ext>
                </a:extLst>
              </a:tr>
              <a:tr h="531826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857983"/>
                  </a:ext>
                </a:extLst>
              </a:tr>
              <a:tr h="226309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X12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X13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X14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X15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407710"/>
                  </a:ext>
                </a:extLst>
              </a:tr>
              <a:tr h="226309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X22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X23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X24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X25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095920"/>
                  </a:ext>
                </a:extLst>
              </a:tr>
              <a:tr h="226309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X32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X33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X34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X35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294169"/>
                  </a:ext>
                </a:extLst>
              </a:tr>
              <a:tr h="226309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X42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X43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X44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X45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215882"/>
                  </a:ext>
                </a:extLst>
              </a:tr>
              <a:tr h="226309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X52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X53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X54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X55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446758"/>
                  </a:ext>
                </a:extLst>
              </a:tr>
              <a:tr h="226309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X61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X62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X63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X64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X65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422872"/>
                  </a:ext>
                </a:extLst>
              </a:tr>
              <a:tr h="226309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X71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X72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X73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X74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X75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742805"/>
                  </a:ext>
                </a:extLst>
              </a:tr>
              <a:tr h="226309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X81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X82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X83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X84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X85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36265"/>
                  </a:ext>
                </a:extLst>
              </a:tr>
              <a:tr h="226309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X91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X92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X93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X94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X95</a:t>
                      </a: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303899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532FC6F3-3224-FF4F-F9C4-3E24D3FFEDBA}"/>
              </a:ext>
            </a:extLst>
          </p:cNvPr>
          <p:cNvGrpSpPr/>
          <p:nvPr/>
        </p:nvGrpSpPr>
        <p:grpSpPr>
          <a:xfrm>
            <a:off x="1343025" y="2733675"/>
            <a:ext cx="2390775" cy="323850"/>
            <a:chOff x="1343025" y="2733675"/>
            <a:chExt cx="2390775" cy="323850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3526D68-17E9-F726-5BE2-3522DFFAA0FC}"/>
                </a:ext>
              </a:extLst>
            </p:cNvPr>
            <p:cNvCxnSpPr/>
            <p:nvPr/>
          </p:nvCxnSpPr>
          <p:spPr>
            <a:xfrm>
              <a:off x="1343025" y="2733675"/>
              <a:ext cx="0" cy="3238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459E0EC-B7B8-6D88-B9DD-E7076C7C31F8}"/>
                </a:ext>
              </a:extLst>
            </p:cNvPr>
            <p:cNvCxnSpPr/>
            <p:nvPr/>
          </p:nvCxnSpPr>
          <p:spPr>
            <a:xfrm>
              <a:off x="1951609" y="2733675"/>
              <a:ext cx="0" cy="3238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65AE75D-21B1-B2BE-9B2A-FB675AEDDFE6}"/>
                </a:ext>
              </a:extLst>
            </p:cNvPr>
            <p:cNvCxnSpPr/>
            <p:nvPr/>
          </p:nvCxnSpPr>
          <p:spPr>
            <a:xfrm>
              <a:off x="2533650" y="2733675"/>
              <a:ext cx="0" cy="3238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4A7AB11-E462-AE04-4FDA-D861C53AB2B4}"/>
                </a:ext>
              </a:extLst>
            </p:cNvPr>
            <p:cNvCxnSpPr/>
            <p:nvPr/>
          </p:nvCxnSpPr>
          <p:spPr>
            <a:xfrm>
              <a:off x="3143250" y="2733675"/>
              <a:ext cx="0" cy="3238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326693D-F110-57CF-A6CB-A7846AD268A5}"/>
                </a:ext>
              </a:extLst>
            </p:cNvPr>
            <p:cNvCxnSpPr/>
            <p:nvPr/>
          </p:nvCxnSpPr>
          <p:spPr>
            <a:xfrm>
              <a:off x="3733800" y="2733675"/>
              <a:ext cx="0" cy="3238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4BA8C08-D16E-F9C4-4CF3-196EB552DDA9}"/>
              </a:ext>
            </a:extLst>
          </p:cNvPr>
          <p:cNvSpPr txBox="1"/>
          <p:nvPr/>
        </p:nvSpPr>
        <p:spPr>
          <a:xfrm>
            <a:off x="4443378" y="3680369"/>
            <a:ext cx="6502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Embedding:</a:t>
            </a:r>
          </a:p>
          <a:p>
            <a:r>
              <a:rPr lang="en-US" dirty="0"/>
              <a:t>	shape: [Max length, 1] to [Max length, embedding size] </a:t>
            </a:r>
          </a:p>
        </p:txBody>
      </p:sp>
    </p:spTree>
    <p:extLst>
      <p:ext uri="{BB962C8B-B14F-4D97-AF65-F5344CB8AC3E}">
        <p14:creationId xmlns:p14="http://schemas.microsoft.com/office/powerpoint/2010/main" val="4075580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DE735-8C9E-237F-1912-C197EF001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4C373-DF1F-D218-D840-9E1133D59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Token Based LSTM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F731A-AD2C-5EE4-DF76-1A56B43F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1BE872-4E64-B9E7-BA8A-CE2BCFBB3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B596EA5-EA01-5440-DA77-FCEA80034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791783"/>
            <a:ext cx="8620125" cy="3594100"/>
          </a:xfrm>
        </p:spPr>
        <p:txBody>
          <a:bodyPr>
            <a:normAutofit/>
          </a:bodyPr>
          <a:lstStyle/>
          <a:p>
            <a:r>
              <a:rPr lang="en-US" sz="2400" dirty="0"/>
              <a:t>Lattice Parameters</a:t>
            </a:r>
          </a:p>
          <a:p>
            <a:pPr lvl="1"/>
            <a:r>
              <a:rPr lang="en-US" sz="2000" dirty="0"/>
              <a:t>A single regression model for all six lattice parameters. </a:t>
            </a:r>
          </a:p>
          <a:p>
            <a:pPr lvl="1"/>
            <a:r>
              <a:rPr lang="en-US" sz="2000" dirty="0"/>
              <a:t>Separate regression models based on different lattice types. </a:t>
            </a:r>
          </a:p>
          <a:p>
            <a:r>
              <a:rPr lang="en-US" sz="2400" dirty="0"/>
              <a:t>Band Gap</a:t>
            </a:r>
          </a:p>
          <a:p>
            <a:pPr lvl="1"/>
            <a:r>
              <a:rPr lang="en-US" sz="2000" dirty="0"/>
              <a:t>Classification: Determines if a material is a conductor or not. </a:t>
            </a:r>
          </a:p>
          <a:p>
            <a:pPr lvl="1"/>
            <a:r>
              <a:rPr lang="en-US" sz="2000" dirty="0"/>
              <a:t>Regression: Predicts the band gap for non-conducting materials. </a:t>
            </a:r>
          </a:p>
          <a:p>
            <a:r>
              <a:rPr lang="en-US" sz="2400" dirty="0"/>
              <a:t>Energy Above Hull</a:t>
            </a:r>
          </a:p>
          <a:p>
            <a:pPr lvl="1"/>
            <a:r>
              <a:rPr lang="en-US" sz="2000" dirty="0"/>
              <a:t>Classification: Determines if a structure is stable or unstable. </a:t>
            </a:r>
          </a:p>
          <a:p>
            <a:pPr lvl="1"/>
            <a:r>
              <a:rPr lang="en-US" sz="2000" dirty="0"/>
              <a:t>Regression: Predicts the actual energy value for unstable structures.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F71C50-3CEE-090B-7D6A-5BD4A5EC8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762" y="713077"/>
            <a:ext cx="3622758" cy="2715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479C8A-D596-A605-AFAF-F10666665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762" y="3530095"/>
            <a:ext cx="3622758" cy="282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43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7BCE6-FC25-8522-9EF9-F793F1716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C957DEA-8F29-D19E-DF6A-6CFE13CF6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2367396"/>
            <a:ext cx="6789481" cy="295951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0F6939-D1A0-6AAE-C5A7-F13276D3CFB8}"/>
              </a:ext>
            </a:extLst>
          </p:cNvPr>
          <p:cNvSpPr txBox="1"/>
          <p:nvPr/>
        </p:nvSpPr>
        <p:spPr>
          <a:xfrm>
            <a:off x="358353" y="1844376"/>
            <a:ext cx="1422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Regression: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0B368-48C5-8A1C-2BD6-6399BEC5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Token Based LSTM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734A2-3C17-F204-1513-27CAFFEC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9F36E-C12C-C674-DD48-4911C658D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079E186-AAD4-DCAF-6B10-3EF51011BC1F}"/>
              </a:ext>
            </a:extLst>
          </p:cNvPr>
          <p:cNvSpPr txBox="1"/>
          <p:nvPr/>
        </p:nvSpPr>
        <p:spPr>
          <a:xfrm>
            <a:off x="7411653" y="1859952"/>
            <a:ext cx="46469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5,000 crystal structures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20,000 crystal structures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Train test rate: 8:2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Hyperparameters: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Embedding size: 16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Hidden size: 32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FC layer output sizes: 512 and 128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Loss Function: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Regression: Mean Squared Error (MSE)Classification: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Binary Cross Entropy Loss (</a:t>
            </a:r>
            <a:r>
              <a:rPr lang="en-US" dirty="0" err="1"/>
              <a:t>BCELoss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87804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157D8-FDB8-103B-C8F4-64B77336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BE4CF-A437-FD0D-602A-7B4038032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Results (Lattice Parameter)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3F462-12AE-C5EC-6653-5B1CDD1B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7F6C12-886D-7C44-BDC6-C6BA19293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C97AA-92E8-05AD-6742-CEB97BDCA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413164"/>
            <a:ext cx="10515600" cy="635092"/>
          </a:xfrm>
        </p:spPr>
        <p:txBody>
          <a:bodyPr/>
          <a:lstStyle/>
          <a:p>
            <a:r>
              <a:rPr lang="en-US" dirty="0"/>
              <a:t>A single regression model for all six lattice parameters.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3C1A17-F708-C339-ABF2-05B90404557E}"/>
              </a:ext>
            </a:extLst>
          </p:cNvPr>
          <p:cNvSpPr txBox="1"/>
          <p:nvPr/>
        </p:nvSpPr>
        <p:spPr>
          <a:xfrm>
            <a:off x="3162300" y="24231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9E041A5-B20A-4CB7-452A-560557DAF3BC}"/>
              </a:ext>
            </a:extLst>
          </p:cNvPr>
          <p:cNvGrpSpPr/>
          <p:nvPr/>
        </p:nvGrpSpPr>
        <p:grpSpPr>
          <a:xfrm>
            <a:off x="580034" y="1852637"/>
            <a:ext cx="3551649" cy="4061460"/>
            <a:chOff x="353567" y="1860204"/>
            <a:chExt cx="3551649" cy="4061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E1AF021-C8FC-5B8B-19B4-AE071EB2BF13}"/>
                </a:ext>
              </a:extLst>
            </p:cNvPr>
            <p:cNvGrpSpPr/>
            <p:nvPr/>
          </p:nvGrpSpPr>
          <p:grpSpPr>
            <a:xfrm>
              <a:off x="353567" y="1860204"/>
              <a:ext cx="2743333" cy="4061460"/>
              <a:chOff x="947927" y="1860204"/>
              <a:chExt cx="2743333" cy="4061460"/>
            </a:xfrm>
          </p:grpSpPr>
          <p:pic>
            <p:nvPicPr>
              <p:cNvPr id="25" name="Picture 24" descr="A graph with blue dots and red line&#10;&#10;AI-generated content may be incorrect.">
                <a:extLst>
                  <a:ext uri="{FF2B5EF4-FFF2-40B4-BE49-F238E27FC236}">
                    <a16:creationId xmlns:a16="http://schemas.microsoft.com/office/drawing/2014/main" id="{86AAE60C-19A4-B225-C65F-F3063542C5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8060" y="3864264"/>
                <a:ext cx="2743200" cy="2057400"/>
              </a:xfrm>
              <a:prstGeom prst="rect">
                <a:avLst/>
              </a:prstGeom>
            </p:spPr>
          </p:pic>
          <p:pic>
            <p:nvPicPr>
              <p:cNvPr id="27" name="Picture 26" descr="A diagram of a graph&#10;&#10;AI-generated content may be incorrect.">
                <a:extLst>
                  <a:ext uri="{FF2B5EF4-FFF2-40B4-BE49-F238E27FC236}">
                    <a16:creationId xmlns:a16="http://schemas.microsoft.com/office/drawing/2014/main" id="{8188C78B-42D2-61C6-077E-2DC8B2E76B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7927" y="1860204"/>
                <a:ext cx="2743200" cy="2057400"/>
              </a:xfrm>
              <a:prstGeom prst="rect">
                <a:avLst/>
              </a:prstGeom>
            </p:spPr>
          </p:pic>
        </p:grpSp>
        <p:sp>
          <p:nvSpPr>
            <p:cNvPr id="39" name="Rectangle 1">
              <a:extLst>
                <a:ext uri="{FF2B5EF4-FFF2-40B4-BE49-F238E27FC236}">
                  <a16:creationId xmlns:a16="http://schemas.microsoft.com/office/drawing/2014/main" id="{BDF3633D-E415-CFC7-A88C-A3B63DB2B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5042" y="2734254"/>
              <a:ext cx="940174" cy="5539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Score Metrics: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MSE: 3.18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MAE: 1.15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R²: 0.58</a:t>
              </a:r>
            </a:p>
          </p:txBody>
        </p:sp>
        <p:sp>
          <p:nvSpPr>
            <p:cNvPr id="45" name="Rectangle 5">
              <a:extLst>
                <a:ext uri="{FF2B5EF4-FFF2-40B4-BE49-F238E27FC236}">
                  <a16:creationId xmlns:a16="http://schemas.microsoft.com/office/drawing/2014/main" id="{D05BB600-358A-4C68-4A0C-0DA602477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748" y="4505437"/>
              <a:ext cx="867504" cy="5539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Score Metrics: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MSE: 4.21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MAE: 0.41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R²: -0.48</a:t>
              </a: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A37794B-CA70-0070-95C3-E6BB4DCC4053}"/>
              </a:ext>
            </a:extLst>
          </p:cNvPr>
          <p:cNvGrpSpPr/>
          <p:nvPr/>
        </p:nvGrpSpPr>
        <p:grpSpPr>
          <a:xfrm>
            <a:off x="4158192" y="1855159"/>
            <a:ext cx="3611600" cy="4066505"/>
            <a:chOff x="4102474" y="1855159"/>
            <a:chExt cx="3611600" cy="40665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F238B22-2EA6-858F-11E2-CAEB25894BB9}"/>
                </a:ext>
              </a:extLst>
            </p:cNvPr>
            <p:cNvGrpSpPr/>
            <p:nvPr/>
          </p:nvGrpSpPr>
          <p:grpSpPr>
            <a:xfrm>
              <a:off x="4102474" y="1855159"/>
              <a:ext cx="2743333" cy="4066505"/>
              <a:chOff x="4102474" y="1855159"/>
              <a:chExt cx="2743333" cy="4066505"/>
            </a:xfrm>
          </p:grpSpPr>
          <p:pic>
            <p:nvPicPr>
              <p:cNvPr id="29" name="Picture 28" descr="A diagram of a red line and blue dots&#10;&#10;AI-generated content may be incorrect.">
                <a:extLst>
                  <a:ext uri="{FF2B5EF4-FFF2-40B4-BE49-F238E27FC236}">
                    <a16:creationId xmlns:a16="http://schemas.microsoft.com/office/drawing/2014/main" id="{117C422A-CAAB-2280-AE09-F08D9FA8F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02474" y="1855159"/>
                <a:ext cx="2743200" cy="2057400"/>
              </a:xfrm>
              <a:prstGeom prst="rect">
                <a:avLst/>
              </a:prstGeom>
            </p:spPr>
          </p:pic>
          <p:pic>
            <p:nvPicPr>
              <p:cNvPr id="31" name="Picture 30" descr="A diagram of a red line with blue dots&#10;&#10;AI-generated content may be incorrect.">
                <a:extLst>
                  <a:ext uri="{FF2B5EF4-FFF2-40B4-BE49-F238E27FC236}">
                    <a16:creationId xmlns:a16="http://schemas.microsoft.com/office/drawing/2014/main" id="{FFF88696-787A-E46D-E400-CD21F2FD45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02607" y="3864264"/>
                <a:ext cx="2743200" cy="2057400"/>
              </a:xfrm>
              <a:prstGeom prst="rect">
                <a:avLst/>
              </a:prstGeom>
            </p:spPr>
          </p:pic>
        </p:grpSp>
        <p:sp>
          <p:nvSpPr>
            <p:cNvPr id="41" name="Rectangle 3">
              <a:extLst>
                <a:ext uri="{FF2B5EF4-FFF2-40B4-BE49-F238E27FC236}">
                  <a16:creationId xmlns:a16="http://schemas.microsoft.com/office/drawing/2014/main" id="{AA54A773-4F03-F186-1ECD-BBE62945B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3949" y="2778517"/>
              <a:ext cx="940174" cy="5539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Score Metrics: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MSE: 5.54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MAE: 1.32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R²: 0.55</a:t>
              </a: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7E27E83F-91BD-7A62-6F89-5985CD26D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3949" y="4505437"/>
              <a:ext cx="1000125" cy="5539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Score Metrics: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MSE: 40.33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MAE: 2.31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R²: 0.37</a:t>
              </a: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38C3081-0FCA-E42C-4AD4-CCF3EADA7FD9}"/>
              </a:ext>
            </a:extLst>
          </p:cNvPr>
          <p:cNvGrpSpPr/>
          <p:nvPr/>
        </p:nvGrpSpPr>
        <p:grpSpPr>
          <a:xfrm>
            <a:off x="7822744" y="1852637"/>
            <a:ext cx="3831403" cy="4061460"/>
            <a:chOff x="7522397" y="1860204"/>
            <a:chExt cx="3831403" cy="406146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E2E0216-B8F6-8490-6C0C-74E0D4062FE9}"/>
                </a:ext>
              </a:extLst>
            </p:cNvPr>
            <p:cNvGrpSpPr/>
            <p:nvPr/>
          </p:nvGrpSpPr>
          <p:grpSpPr>
            <a:xfrm>
              <a:off x="7522397" y="1860204"/>
              <a:ext cx="2743266" cy="4061460"/>
              <a:chOff x="7522397" y="1860204"/>
              <a:chExt cx="2743266" cy="4061460"/>
            </a:xfrm>
          </p:grpSpPr>
          <p:pic>
            <p:nvPicPr>
              <p:cNvPr id="23" name="Picture 22" descr="A diagram with blue dots and red line&#10;&#10;AI-generated content may be incorrect.">
                <a:extLst>
                  <a:ext uri="{FF2B5EF4-FFF2-40B4-BE49-F238E27FC236}">
                    <a16:creationId xmlns:a16="http://schemas.microsoft.com/office/drawing/2014/main" id="{8C57B677-3FE4-2ABF-E89C-052C452945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22463" y="3864264"/>
                <a:ext cx="2743200" cy="2057400"/>
              </a:xfrm>
              <a:prstGeom prst="rect">
                <a:avLst/>
              </a:prstGeom>
            </p:spPr>
          </p:pic>
          <p:pic>
            <p:nvPicPr>
              <p:cNvPr id="33" name="Picture 32" descr="A diagram of a graph&#10;&#10;AI-generated content may be incorrect.">
                <a:extLst>
                  <a:ext uri="{FF2B5EF4-FFF2-40B4-BE49-F238E27FC236}">
                    <a16:creationId xmlns:a16="http://schemas.microsoft.com/office/drawing/2014/main" id="{5191F01B-AB1D-C641-15B8-BE50AA2A9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22397" y="1860204"/>
                <a:ext cx="2743200" cy="2057400"/>
              </a:xfrm>
              <a:prstGeom prst="rect">
                <a:avLst/>
              </a:prstGeom>
            </p:spPr>
          </p:pic>
        </p:grpSp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3D73240E-B09E-593E-9908-AE9D642BC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8459" y="2800846"/>
              <a:ext cx="1185341" cy="5539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Score Metrics: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MSE: 6.41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MAE: 1.65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R²: 0.74</a:t>
              </a: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7">
              <a:extLst>
                <a:ext uri="{FF2B5EF4-FFF2-40B4-BE49-F238E27FC236}">
                  <a16:creationId xmlns:a16="http://schemas.microsoft.com/office/drawing/2014/main" id="{D7A666CF-69E1-3F7D-DEA7-5E44D8CF6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8459" y="4505437"/>
              <a:ext cx="955390" cy="5539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Score Metrics: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MSE: 10.39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MAE: 0.79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  <a:ea typeface="var(--jp-code-font-family)"/>
                </a:rPr>
                <a:t>Mean R²: 0.94</a:t>
              </a: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822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B913F-A0AF-4A9C-4F1B-2F30B0EA9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B25460-FF9C-89FC-7D21-2270F7CFB5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E8E3AD-B71B-23C6-625D-FDC86469D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Results (Lattice Parameter)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D98F4-2AFA-1512-B4BD-0EBA0B433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09B7E-02FC-A150-6A06-3013F9962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413164"/>
            <a:ext cx="11765280" cy="635092"/>
          </a:xfrm>
        </p:spPr>
        <p:txBody>
          <a:bodyPr>
            <a:noAutofit/>
          </a:bodyPr>
          <a:lstStyle/>
          <a:p>
            <a:r>
              <a:rPr lang="en-US" dirty="0"/>
              <a:t>Separate regression models based on different lattice types. (Monoclinic)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09EDAA1-3820-F24D-4DF7-A95FA1C59BDE}"/>
              </a:ext>
            </a:extLst>
          </p:cNvPr>
          <p:cNvGrpSpPr/>
          <p:nvPr/>
        </p:nvGrpSpPr>
        <p:grpSpPr>
          <a:xfrm>
            <a:off x="268274" y="1969594"/>
            <a:ext cx="11655453" cy="3776538"/>
            <a:chOff x="268274" y="1969594"/>
            <a:chExt cx="11655453" cy="377653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D819BE0-6159-AD85-2600-2EB6422A95AD}"/>
                </a:ext>
              </a:extLst>
            </p:cNvPr>
            <p:cNvGrpSpPr/>
            <p:nvPr/>
          </p:nvGrpSpPr>
          <p:grpSpPr>
            <a:xfrm>
              <a:off x="268274" y="1969594"/>
              <a:ext cx="11655453" cy="2400681"/>
              <a:chOff x="205185" y="2198194"/>
              <a:chExt cx="11655453" cy="2400681"/>
            </a:xfrm>
          </p:grpSpPr>
          <p:pic>
            <p:nvPicPr>
              <p:cNvPr id="9" name="Picture 8" descr="A graph with blue and orange dots&#10;&#10;AI-generated content may be incorrect.">
                <a:extLst>
                  <a:ext uri="{FF2B5EF4-FFF2-40B4-BE49-F238E27FC236}">
                    <a16:creationId xmlns:a16="http://schemas.microsoft.com/office/drawing/2014/main" id="{54CE7D56-E5EF-C454-D46C-0E20CA34E3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5185" y="2259129"/>
                <a:ext cx="3119661" cy="2339746"/>
              </a:xfrm>
              <a:prstGeom prst="rect">
                <a:avLst/>
              </a:prstGeom>
            </p:spPr>
          </p:pic>
          <p:pic>
            <p:nvPicPr>
              <p:cNvPr id="11" name="Picture 10" descr="A graph with blue and orange dots&#10;&#10;AI-generated content may be incorrect.">
                <a:extLst>
                  <a:ext uri="{FF2B5EF4-FFF2-40B4-BE49-F238E27FC236}">
                    <a16:creationId xmlns:a16="http://schemas.microsoft.com/office/drawing/2014/main" id="{2EAB4299-6093-3E38-ECC8-2EB270D0E4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18699" y="2259127"/>
                <a:ext cx="3119661" cy="2339746"/>
              </a:xfrm>
              <a:prstGeom prst="rect">
                <a:avLst/>
              </a:prstGeom>
            </p:spPr>
          </p:pic>
          <p:pic>
            <p:nvPicPr>
              <p:cNvPr id="13" name="Picture 12" descr="A graph with blue and orange dots&#10;&#10;AI-generated content may be incorrect.">
                <a:extLst>
                  <a:ext uri="{FF2B5EF4-FFF2-40B4-BE49-F238E27FC236}">
                    <a16:creationId xmlns:a16="http://schemas.microsoft.com/office/drawing/2014/main" id="{462D6562-6A94-4E38-CDBA-65A308B333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32213" y="2259127"/>
                <a:ext cx="3119661" cy="2339746"/>
              </a:xfrm>
              <a:prstGeom prst="rect">
                <a:avLst/>
              </a:prstGeom>
            </p:spPr>
          </p:pic>
          <p:pic>
            <p:nvPicPr>
              <p:cNvPr id="7" name="Picture 6" descr="A graph with blue and orange dots&#10;&#10;AI-generated content may be incorrect.">
                <a:extLst>
                  <a:ext uri="{FF2B5EF4-FFF2-40B4-BE49-F238E27FC236}">
                    <a16:creationId xmlns:a16="http://schemas.microsoft.com/office/drawing/2014/main" id="{3A2E3EC5-B955-C836-0F93-111116AB52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40977" y="2259127"/>
                <a:ext cx="3119661" cy="233974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E8C01E-D57C-8588-FC7A-A0D2B8BBF05A}"/>
                  </a:ext>
                </a:extLst>
              </p:cNvPr>
              <p:cNvSpPr txBox="1"/>
              <p:nvPr/>
            </p:nvSpPr>
            <p:spPr>
              <a:xfrm>
                <a:off x="1390650" y="2198194"/>
                <a:ext cx="1005435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A length                                                             B length                                                           C length                                                                 Beta                     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FAF9FD2-CE19-DD21-58BF-CBBBFC948798}"/>
                </a:ext>
              </a:extLst>
            </p:cNvPr>
            <p:cNvSpPr txBox="1"/>
            <p:nvPr/>
          </p:nvSpPr>
          <p:spPr>
            <a:xfrm>
              <a:off x="838200" y="4545803"/>
              <a:ext cx="2466975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Score Metrics:</a:t>
              </a:r>
            </a:p>
            <a:p>
              <a:r>
                <a:rPr lang="en-US" dirty="0"/>
                <a:t>Mean MSE: 1.70</a:t>
              </a:r>
            </a:p>
            <a:p>
              <a:r>
                <a:rPr lang="en-US" dirty="0"/>
                <a:t>Mean MAE: 0.58</a:t>
              </a:r>
            </a:p>
            <a:p>
              <a:r>
                <a:rPr lang="en-US" dirty="0"/>
                <a:t>Mean R²: 0.74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6A12234-7533-8479-FD93-2ED20A2AD186}"/>
                </a:ext>
              </a:extLst>
            </p:cNvPr>
            <p:cNvSpPr txBox="1"/>
            <p:nvPr/>
          </p:nvSpPr>
          <p:spPr>
            <a:xfrm>
              <a:off x="3784367" y="4545803"/>
              <a:ext cx="2311633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Score Metrics:</a:t>
              </a:r>
            </a:p>
            <a:p>
              <a:r>
                <a:rPr lang="en-US" dirty="0"/>
                <a:t>Mean MSE: 2.35</a:t>
              </a:r>
            </a:p>
            <a:p>
              <a:r>
                <a:rPr lang="en-US" dirty="0"/>
                <a:t>Mean MAE: 0.58</a:t>
              </a:r>
            </a:p>
            <a:p>
              <a:r>
                <a:rPr lang="en-US" dirty="0"/>
                <a:t>Mean R²: 0.82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8868F9B-C456-8D13-2685-2E89CCDA8098}"/>
                </a:ext>
              </a:extLst>
            </p:cNvPr>
            <p:cNvSpPr txBox="1"/>
            <p:nvPr/>
          </p:nvSpPr>
          <p:spPr>
            <a:xfrm>
              <a:off x="6597881" y="4545802"/>
              <a:ext cx="259374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Score Metrics:</a:t>
              </a:r>
            </a:p>
            <a:p>
              <a:r>
                <a:rPr lang="en-US" dirty="0"/>
                <a:t>Mean MSE: 3.30</a:t>
              </a:r>
            </a:p>
            <a:p>
              <a:r>
                <a:rPr lang="en-US" dirty="0"/>
                <a:t>Mean MAE: 0.63</a:t>
              </a:r>
            </a:p>
            <a:p>
              <a:r>
                <a:rPr lang="en-US" dirty="0"/>
                <a:t>Mean R²: 0.67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007811A-3D5D-0A62-6C76-8852AB295580}"/>
                </a:ext>
              </a:extLst>
            </p:cNvPr>
            <p:cNvSpPr txBox="1"/>
            <p:nvPr/>
          </p:nvSpPr>
          <p:spPr>
            <a:xfrm>
              <a:off x="9506644" y="4545802"/>
              <a:ext cx="2151955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Score Metrics:</a:t>
              </a:r>
            </a:p>
            <a:p>
              <a:r>
                <a:rPr lang="en-US" dirty="0"/>
                <a:t>Mean MSE: 42.09</a:t>
              </a:r>
            </a:p>
            <a:p>
              <a:r>
                <a:rPr lang="en-US" dirty="0"/>
                <a:t>Mean MAE: 2.42</a:t>
              </a:r>
            </a:p>
            <a:p>
              <a:r>
                <a:rPr lang="en-US" dirty="0"/>
                <a:t>Mean R²: 0.71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447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E3E7-D5F5-E3C4-FE1E-71847845C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F68A98-277B-197D-B46B-ADB241F13D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0A6070-0E60-1308-B3AD-2CBC83D2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Results (Band Gap Classification)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3AC7C-F901-92B9-B653-7D1F68D3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8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58291C-93F1-AAD2-1E30-C3683D40DFA0}"/>
              </a:ext>
            </a:extLst>
          </p:cNvPr>
          <p:cNvGrpSpPr/>
          <p:nvPr/>
        </p:nvGrpSpPr>
        <p:grpSpPr>
          <a:xfrm>
            <a:off x="2739166" y="1536798"/>
            <a:ext cx="9003354" cy="4730083"/>
            <a:chOff x="2739166" y="1536798"/>
            <a:chExt cx="9003354" cy="473008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8D7B8C-BCA1-8EF8-B8E3-0431D2189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39166" y="1821652"/>
              <a:ext cx="4090259" cy="411523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400BE8A-7E28-CAE2-345A-E58529141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63148" y="1780156"/>
              <a:ext cx="4579372" cy="448672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BBF3A80-9D7E-772E-ECC2-85371C77F6DC}"/>
                </a:ext>
              </a:extLst>
            </p:cNvPr>
            <p:cNvSpPr txBox="1"/>
            <p:nvPr/>
          </p:nvSpPr>
          <p:spPr>
            <a:xfrm>
              <a:off x="2739166" y="1536798"/>
              <a:ext cx="54874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Test set:                                                                                                        Train set:   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C0B020F-7FA4-0B06-702F-45A480127EAC}"/>
              </a:ext>
            </a:extLst>
          </p:cNvPr>
          <p:cNvSpPr txBox="1"/>
          <p:nvPr/>
        </p:nvSpPr>
        <p:spPr>
          <a:xfrm>
            <a:off x="352979" y="2258893"/>
            <a:ext cx="26147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Hyperparameters:</a:t>
            </a:r>
          </a:p>
          <a:p>
            <a:r>
              <a:rPr lang="en-US" dirty="0"/>
              <a:t>Total Data Size: 5000</a:t>
            </a:r>
          </a:p>
          <a:p>
            <a:r>
              <a:rPr lang="en-US" dirty="0"/>
              <a:t>Learning Rate: 3e-3</a:t>
            </a:r>
          </a:p>
          <a:p>
            <a:r>
              <a:rPr lang="en-US" dirty="0"/>
              <a:t>Weight Decay: 8e-4</a:t>
            </a:r>
          </a:p>
          <a:p>
            <a:r>
              <a:rPr lang="en-US" dirty="0"/>
              <a:t>Epochs: 200</a:t>
            </a:r>
          </a:p>
          <a:p>
            <a:r>
              <a:rPr lang="en-US" dirty="0"/>
              <a:t>Number of Layers: 3</a:t>
            </a:r>
          </a:p>
          <a:p>
            <a:r>
              <a:rPr lang="en-US" dirty="0"/>
              <a:t>Embedding size: 16</a:t>
            </a:r>
          </a:p>
          <a:p>
            <a:r>
              <a:rPr lang="en-US" dirty="0"/>
              <a:t>Hidden Size: 32</a:t>
            </a:r>
          </a:p>
          <a:p>
            <a:r>
              <a:rPr lang="en-US" dirty="0"/>
              <a:t>Batch Size: 512</a:t>
            </a:r>
          </a:p>
        </p:txBody>
      </p:sp>
    </p:spTree>
    <p:extLst>
      <p:ext uri="{BB962C8B-B14F-4D97-AF65-F5344CB8AC3E}">
        <p14:creationId xmlns:p14="http://schemas.microsoft.com/office/powerpoint/2010/main" val="1644783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CFD90-69A2-4BFD-3A5D-F6737D93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FB06B7-8CDD-8D76-5971-3CB1D558AC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576173-CB91-6A07-6A00-B836F4E41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Results (Band Gap Classification)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7B24B-21B0-26EC-29FC-4E0C88BA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9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2DEA1D-56E5-A3E1-457D-D46CD5858742}"/>
              </a:ext>
            </a:extLst>
          </p:cNvPr>
          <p:cNvGrpSpPr/>
          <p:nvPr/>
        </p:nvGrpSpPr>
        <p:grpSpPr>
          <a:xfrm>
            <a:off x="2739166" y="1536798"/>
            <a:ext cx="8984181" cy="4819552"/>
            <a:chOff x="2739166" y="1536798"/>
            <a:chExt cx="8984181" cy="481955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C9017A4-B4B1-73E4-453F-688C0E2AE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739166" y="1861209"/>
              <a:ext cx="4090259" cy="4036123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72D7F73-61A4-C8FD-5D52-6CF7F969E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182321" y="1869625"/>
              <a:ext cx="4541026" cy="448672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4038F9D-B074-CC56-748E-413D42F15472}"/>
                </a:ext>
              </a:extLst>
            </p:cNvPr>
            <p:cNvSpPr txBox="1"/>
            <p:nvPr/>
          </p:nvSpPr>
          <p:spPr>
            <a:xfrm>
              <a:off x="2739166" y="1536798"/>
              <a:ext cx="54874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Test set:                                                                                                        Train set:   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A31B482-86BD-89ED-5EC3-2421EB574A45}"/>
              </a:ext>
            </a:extLst>
          </p:cNvPr>
          <p:cNvSpPr txBox="1"/>
          <p:nvPr/>
        </p:nvSpPr>
        <p:spPr>
          <a:xfrm>
            <a:off x="352979" y="2258893"/>
            <a:ext cx="26147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Hyperparameters:</a:t>
            </a:r>
          </a:p>
          <a:p>
            <a:r>
              <a:rPr lang="en-US" dirty="0"/>
              <a:t>Total Data Size: 20000</a:t>
            </a:r>
          </a:p>
          <a:p>
            <a:r>
              <a:rPr lang="en-US" dirty="0"/>
              <a:t>Learning Rate: 3e-3</a:t>
            </a:r>
          </a:p>
          <a:p>
            <a:r>
              <a:rPr lang="en-US" dirty="0"/>
              <a:t>Weight Decay: 8e-4</a:t>
            </a:r>
          </a:p>
          <a:p>
            <a:r>
              <a:rPr lang="en-US" dirty="0"/>
              <a:t>Epochs: 200</a:t>
            </a:r>
          </a:p>
          <a:p>
            <a:r>
              <a:rPr lang="en-US" dirty="0"/>
              <a:t>Number of Layers: 3</a:t>
            </a:r>
          </a:p>
          <a:p>
            <a:r>
              <a:rPr lang="en-US" dirty="0"/>
              <a:t>Embedding size: 16</a:t>
            </a:r>
          </a:p>
          <a:p>
            <a:r>
              <a:rPr lang="en-US" dirty="0"/>
              <a:t>Hidden Size: 32</a:t>
            </a:r>
          </a:p>
          <a:p>
            <a:r>
              <a:rPr lang="en-US" dirty="0"/>
              <a:t>Batch Size: 512</a:t>
            </a:r>
          </a:p>
        </p:txBody>
      </p:sp>
    </p:spTree>
    <p:extLst>
      <p:ext uri="{BB962C8B-B14F-4D97-AF65-F5344CB8AC3E}">
        <p14:creationId xmlns:p14="http://schemas.microsoft.com/office/powerpoint/2010/main" val="1882504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0E72F-7497-9F95-15D3-4CAD88D3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C5379C-EE6E-721C-DD68-3E27D31699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9F48B7-9B23-4E73-EFA9-A6F468D1E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Results (Band Gap Regression)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AFB70-FFAE-3FD1-9520-C6212C849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10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7E6FE3-BCA2-6AA9-7D06-7A0BB49FE105}"/>
              </a:ext>
            </a:extLst>
          </p:cNvPr>
          <p:cNvSpPr txBox="1"/>
          <p:nvPr/>
        </p:nvSpPr>
        <p:spPr>
          <a:xfrm>
            <a:off x="352979" y="2258893"/>
            <a:ext cx="26147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Hyperparameters:</a:t>
            </a:r>
          </a:p>
          <a:p>
            <a:r>
              <a:rPr lang="en-US" dirty="0"/>
              <a:t>Total Data Size: 5000</a:t>
            </a:r>
            <a:endParaRPr lang="en-US" b="1" dirty="0"/>
          </a:p>
          <a:p>
            <a:r>
              <a:rPr lang="en-US" dirty="0"/>
              <a:t>Learning Rate: 8e-3</a:t>
            </a:r>
          </a:p>
          <a:p>
            <a:r>
              <a:rPr lang="en-US" dirty="0"/>
              <a:t>Weight Decay: 3e-3</a:t>
            </a:r>
          </a:p>
          <a:p>
            <a:r>
              <a:rPr lang="en-US" dirty="0"/>
              <a:t>Epochs: 200</a:t>
            </a:r>
          </a:p>
          <a:p>
            <a:r>
              <a:rPr lang="en-US" dirty="0"/>
              <a:t>Number of Layers: 3</a:t>
            </a:r>
          </a:p>
          <a:p>
            <a:r>
              <a:rPr lang="en-US" dirty="0"/>
              <a:t>Embedding size: 16</a:t>
            </a:r>
          </a:p>
          <a:p>
            <a:r>
              <a:rPr lang="en-US" dirty="0"/>
              <a:t>Hidden Size: 32</a:t>
            </a:r>
          </a:p>
          <a:p>
            <a:r>
              <a:rPr lang="en-US" dirty="0"/>
              <a:t>Batch Size: 512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A3BC65-FBEA-6084-D03B-D03A51E7E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116" y="1690688"/>
            <a:ext cx="5501194" cy="4106016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205CF387-62AD-BE3A-46E4-ACA78FF3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7876" y="3189698"/>
            <a:ext cx="3488647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Test Score: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Mean Squared Error (MSE): 1.2738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Mean Absolute Error (MAE): 0.8133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R² Score: 0.6331 </a:t>
            </a:r>
          </a:p>
        </p:txBody>
      </p:sp>
    </p:spTree>
    <p:extLst>
      <p:ext uri="{BB962C8B-B14F-4D97-AF65-F5344CB8AC3E}">
        <p14:creationId xmlns:p14="http://schemas.microsoft.com/office/powerpoint/2010/main" val="1592445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EF55-AC9D-FCCF-75A1-E61301A82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7AC887-F890-1D63-1C4D-061AA6E428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7E22BD-26EA-6C33-7E2A-6385CD1A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Results (Band Gap Regression)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594C-1A5B-C56D-39F5-560628060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11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E493E0-7944-BBFD-67EE-38B7F7531D93}"/>
              </a:ext>
            </a:extLst>
          </p:cNvPr>
          <p:cNvSpPr txBox="1"/>
          <p:nvPr/>
        </p:nvSpPr>
        <p:spPr>
          <a:xfrm>
            <a:off x="352979" y="2258893"/>
            <a:ext cx="26147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Hyperparameters:</a:t>
            </a:r>
          </a:p>
          <a:p>
            <a:r>
              <a:rPr lang="en-US" dirty="0"/>
              <a:t>Total Data Size: 20000</a:t>
            </a:r>
            <a:endParaRPr lang="en-US" b="1" dirty="0"/>
          </a:p>
          <a:p>
            <a:r>
              <a:rPr lang="en-US" dirty="0"/>
              <a:t>Learning Rate: 5e-3</a:t>
            </a:r>
          </a:p>
          <a:p>
            <a:r>
              <a:rPr lang="en-US" dirty="0"/>
              <a:t>Weight Decay: 8e-5</a:t>
            </a:r>
          </a:p>
          <a:p>
            <a:r>
              <a:rPr lang="en-US" dirty="0"/>
              <a:t>Epochs: 200</a:t>
            </a:r>
          </a:p>
          <a:p>
            <a:r>
              <a:rPr lang="en-US" dirty="0"/>
              <a:t>Number of Layers: 3</a:t>
            </a:r>
          </a:p>
          <a:p>
            <a:r>
              <a:rPr lang="en-US" dirty="0"/>
              <a:t>Embedding size: 16</a:t>
            </a:r>
          </a:p>
          <a:p>
            <a:r>
              <a:rPr lang="en-US" dirty="0"/>
              <a:t>Hidden Size: 32</a:t>
            </a:r>
          </a:p>
          <a:p>
            <a:r>
              <a:rPr lang="en-US" dirty="0"/>
              <a:t>Batch Size: 512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6CE8E4-1D66-9E12-2887-A466EED126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0116" y="1735154"/>
            <a:ext cx="5501194" cy="4017084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1ECD8EFE-C5C9-2B41-92B5-46FCDE326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7876" y="3189698"/>
            <a:ext cx="3488647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Test Score: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Mean Squared Error (MSE): 2.4090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Mean Absolute Error (MAE): 1.0650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R² Score: 0.2745</a:t>
            </a:r>
          </a:p>
        </p:txBody>
      </p:sp>
    </p:spTree>
    <p:extLst>
      <p:ext uri="{BB962C8B-B14F-4D97-AF65-F5344CB8AC3E}">
        <p14:creationId xmlns:p14="http://schemas.microsoft.com/office/powerpoint/2010/main" val="2925951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CBFF-2023-1D47-E123-D0905D263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B4A510-4A48-9166-8010-265EF7DAC6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96DBDB-5F65-9DD4-AD73-E6325E5FB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Results (Band Gap Regression)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54BE7-592D-AE81-EA3D-1E36FBA95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12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359E36C-2C81-20D7-F132-5252C41803A8}"/>
              </a:ext>
            </a:extLst>
          </p:cNvPr>
          <p:cNvGrpSpPr/>
          <p:nvPr/>
        </p:nvGrpSpPr>
        <p:grpSpPr>
          <a:xfrm>
            <a:off x="238991" y="1690688"/>
            <a:ext cx="11430655" cy="3795712"/>
            <a:chOff x="508954" y="1790420"/>
            <a:chExt cx="11174092" cy="359682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176CDE5-CDB4-75BF-5640-FDB39D2D5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954" y="1790420"/>
              <a:ext cx="5573646" cy="354686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9413A04-2D55-A670-66C1-C5771E7B0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1840381"/>
              <a:ext cx="5587046" cy="35468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033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07B6B-9AF2-27EC-3FA4-9EAC6E3B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4BACF1-50D1-5F70-E7EB-C9FB34CDF1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DB369E-25FB-67F4-086C-752EA2EC0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Results (Energy Above Hull Classification)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7B350-C207-A863-35E1-5DFF2EA2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13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301AD3-69CE-399E-2C67-9F9B96D54D07}"/>
              </a:ext>
            </a:extLst>
          </p:cNvPr>
          <p:cNvSpPr txBox="1"/>
          <p:nvPr/>
        </p:nvSpPr>
        <p:spPr>
          <a:xfrm>
            <a:off x="352979" y="2258893"/>
            <a:ext cx="26147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Hyperparameters:</a:t>
            </a:r>
          </a:p>
          <a:p>
            <a:r>
              <a:rPr lang="en-US" dirty="0"/>
              <a:t>Total Data Size: 5000</a:t>
            </a:r>
            <a:endParaRPr lang="en-US" b="1" dirty="0"/>
          </a:p>
          <a:p>
            <a:r>
              <a:rPr lang="en-US" dirty="0"/>
              <a:t>Learning Rate: 1e-3</a:t>
            </a:r>
          </a:p>
          <a:p>
            <a:r>
              <a:rPr lang="en-US" dirty="0"/>
              <a:t>Weight Decay: 5e-5</a:t>
            </a:r>
          </a:p>
          <a:p>
            <a:r>
              <a:rPr lang="en-US" dirty="0"/>
              <a:t>Epochs: 200</a:t>
            </a:r>
          </a:p>
          <a:p>
            <a:r>
              <a:rPr lang="en-US" dirty="0"/>
              <a:t>Number of Layers: 3</a:t>
            </a:r>
          </a:p>
          <a:p>
            <a:r>
              <a:rPr lang="en-US" dirty="0"/>
              <a:t>Embedding size: 16</a:t>
            </a:r>
          </a:p>
          <a:p>
            <a:r>
              <a:rPr lang="en-US" dirty="0"/>
              <a:t>Hidden Size: 32</a:t>
            </a:r>
          </a:p>
          <a:p>
            <a:r>
              <a:rPr lang="en-US" dirty="0"/>
              <a:t>Batch Size: 512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A30627-0481-89D7-C412-8A91547DE5E6}"/>
              </a:ext>
            </a:extLst>
          </p:cNvPr>
          <p:cNvGrpSpPr/>
          <p:nvPr/>
        </p:nvGrpSpPr>
        <p:grpSpPr>
          <a:xfrm>
            <a:off x="2685894" y="1624013"/>
            <a:ext cx="8667906" cy="4499559"/>
            <a:chOff x="2967766" y="1690688"/>
            <a:chExt cx="8667906" cy="449955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32C22A0-5ABE-F5AE-7FCA-86A803C3B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00999" y="1690688"/>
              <a:ext cx="4134673" cy="44527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99D755F-038F-6189-2182-5CF8D681D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67766" y="1690688"/>
              <a:ext cx="4203451" cy="44995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1355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3EA25-625C-FE54-C863-700A991A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A2FEA9-2657-4CCE-B08E-E4B245FAC4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5921664"/>
            <a:ext cx="4354887" cy="77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907857-FAF0-2554-804C-0DCE2401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Results (Energy Above Hull Regression)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F247F-65B1-CFCB-E1E2-25D25CAA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77ED-844D-4966-BFD7-2AC53E7E839F}" type="slidenum">
              <a:rPr lang="en-US" smtClean="0"/>
              <a:t>14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B9DD00-9437-6089-EC3D-A0F7B434F784}"/>
              </a:ext>
            </a:extLst>
          </p:cNvPr>
          <p:cNvSpPr txBox="1"/>
          <p:nvPr/>
        </p:nvSpPr>
        <p:spPr>
          <a:xfrm>
            <a:off x="352979" y="2258893"/>
            <a:ext cx="26147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Hyperparameters:</a:t>
            </a:r>
          </a:p>
          <a:p>
            <a:r>
              <a:rPr lang="en-US" dirty="0"/>
              <a:t>Total Data Size: 20000</a:t>
            </a:r>
            <a:endParaRPr lang="en-US" b="1" dirty="0"/>
          </a:p>
          <a:p>
            <a:r>
              <a:rPr lang="en-US" dirty="0"/>
              <a:t>Learning Rate: 5e-3</a:t>
            </a:r>
          </a:p>
          <a:p>
            <a:r>
              <a:rPr lang="en-US" dirty="0"/>
              <a:t>Weight Decay: 8e-5</a:t>
            </a:r>
          </a:p>
          <a:p>
            <a:r>
              <a:rPr lang="en-US" dirty="0"/>
              <a:t>Epochs: 200</a:t>
            </a:r>
          </a:p>
          <a:p>
            <a:r>
              <a:rPr lang="en-US" dirty="0"/>
              <a:t>Number of Layers: 3</a:t>
            </a:r>
          </a:p>
          <a:p>
            <a:r>
              <a:rPr lang="en-US" dirty="0"/>
              <a:t>Embedding size: 16</a:t>
            </a:r>
          </a:p>
          <a:p>
            <a:r>
              <a:rPr lang="en-US" dirty="0"/>
              <a:t>Hidden Size: 32</a:t>
            </a:r>
          </a:p>
          <a:p>
            <a:r>
              <a:rPr lang="en-US" dirty="0"/>
              <a:t>Batch Size: 512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7350DA-AFC8-3D52-6942-9A615582B4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09043" y="1735154"/>
            <a:ext cx="5323339" cy="4017084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52C5F25B-A002-802D-6438-33474D1DE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7876" y="2497202"/>
            <a:ext cx="3442161" cy="24929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Test Score: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Mean Squared Error (MSE): 0.3130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Mean Absolute Error (MAE): 0.3024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R² Score: 0.0948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Train Score: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Mean Squared Error (MSE): 0.6642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Mean Absolute Error (MAE): 0.4481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R² Score: -0.9172</a:t>
            </a:r>
          </a:p>
        </p:txBody>
      </p:sp>
    </p:spTree>
    <p:extLst>
      <p:ext uri="{BB962C8B-B14F-4D97-AF65-F5344CB8AC3E}">
        <p14:creationId xmlns:p14="http://schemas.microsoft.com/office/powerpoint/2010/main" val="2131724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1378</Words>
  <Application>Microsoft Office PowerPoint</Application>
  <PresentationFormat>Widescreen</PresentationFormat>
  <Paragraphs>301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 Unicode MS</vt:lpstr>
      <vt:lpstr>BlinkMacSystemFont</vt:lpstr>
      <vt:lpstr>Aptos</vt:lpstr>
      <vt:lpstr>Aptos Display</vt:lpstr>
      <vt:lpstr>Aptos Narrow</vt:lpstr>
      <vt:lpstr>Arial</vt:lpstr>
      <vt:lpstr>Office Theme</vt:lpstr>
      <vt:lpstr>Crystring: A Token-Based Representation for Crystal Structures in Machine Learning</vt:lpstr>
      <vt:lpstr>Crystring Representation</vt:lpstr>
      <vt:lpstr>Tokenization and Embedding Representation</vt:lpstr>
      <vt:lpstr>Token Based LSTM model</vt:lpstr>
      <vt:lpstr>Token Based LSTM model</vt:lpstr>
      <vt:lpstr>Results (Lattice Parameter)</vt:lpstr>
      <vt:lpstr>Results (Lattice Parameter)</vt:lpstr>
      <vt:lpstr>Results (Band Gap Classification)</vt:lpstr>
      <vt:lpstr>Results (Band Gap Classification)</vt:lpstr>
      <vt:lpstr>Results (Band Gap Regression)</vt:lpstr>
      <vt:lpstr>Results (Band Gap Regression)</vt:lpstr>
      <vt:lpstr>Results (Band Gap Regression)</vt:lpstr>
      <vt:lpstr>Results (Energy Above Hull Classification)</vt:lpstr>
      <vt:lpstr>Results (Energy Above Hull Regression)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Qihan Fu</dc:creator>
  <cp:lastModifiedBy>Qihan Fu</cp:lastModifiedBy>
  <cp:revision>4</cp:revision>
  <dcterms:created xsi:type="dcterms:W3CDTF">2025-03-12T00:07:58Z</dcterms:created>
  <dcterms:modified xsi:type="dcterms:W3CDTF">2025-03-13T08:11:54Z</dcterms:modified>
</cp:coreProperties>
</file>